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71" r:id="rId2"/>
    <p:sldId id="272" r:id="rId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08A41"/>
    <a:srgbClr val="CDD9AC"/>
    <a:srgbClr val="A4A4A4"/>
    <a:srgbClr val="FFFCC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92" d="100"/>
          <a:sy n="92" d="100"/>
        </p:scale>
        <p:origin x="183" y="-30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2110D00-AD6B-EC4B-B604-320DDBC09A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D1AA321A-DFB6-E36B-7BD3-CDDE1A1218C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DAF3E4-0792-5697-F17B-D7C7511067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56ABB1-B727-42E1-97D8-FD52BC4C149B}" type="datetimeFigureOut">
              <a:rPr lang="ko-KR" altLang="en-US" smtClean="0"/>
              <a:t>2026-01-24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3765D37-E06F-198E-41AC-5C2C6D756D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353DEBF-2E71-27CA-1768-845CCABA53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3EF514-EB1E-4E5A-B985-533C0042800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655832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22AD074-FCCA-2796-7CF9-3E1C6C7E39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417D487-B912-1285-A89A-397869B1DA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064FE61-FC8A-574B-B14D-70CA078323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56ABB1-B727-42E1-97D8-FD52BC4C149B}" type="datetimeFigureOut">
              <a:rPr lang="ko-KR" altLang="en-US" smtClean="0"/>
              <a:t>2026-01-24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8025C93-599A-8B57-207E-6A5AC63CBD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753656E-38D2-D931-2593-95C791E041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3EF514-EB1E-4E5A-B985-533C0042800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280904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5D6C96D-FF81-5F5E-3EA6-8896BEBE21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EBF5E61-F9AF-BB2A-274F-FEF7633255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3B18C96-7E31-E011-8F4D-6EF31851B5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56ABB1-B727-42E1-97D8-FD52BC4C149B}" type="datetimeFigureOut">
              <a:rPr lang="ko-KR" altLang="en-US" smtClean="0"/>
              <a:t>2026-01-24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F094644-767D-92E6-9BD3-E385FE1D3D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190C251-7898-ED37-5E51-B9C452344A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3EF514-EB1E-4E5A-B985-533C0042800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46147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A64B926-B3E7-159C-D61A-93A8E6D089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47FDAFD-1280-292F-8474-4AD5301AC8A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C771FDD-2846-7115-26AC-70D25E7487D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EA92DFA-37E9-CE5F-49DF-96B02BD3AB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56ABB1-B727-42E1-97D8-FD52BC4C149B}" type="datetimeFigureOut">
              <a:rPr lang="ko-KR" altLang="en-US" smtClean="0"/>
              <a:t>2026-01-24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1997715-BE3E-15A1-C08D-B0F06E5A87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7C88817-5FC5-3A99-F6CA-0316F586EA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3EF514-EB1E-4E5A-B985-533C0042800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194270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C00DA2E-3518-F84D-AE5E-6076CC0D7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E345A6B-AF8C-7955-1CE2-400C792D9E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71D3606-4DF3-772F-85B9-DCAC5D380C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C456BE94-384B-35ED-E0CD-76AD07D7B39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854BE32F-8822-CAEB-EC3B-B4EF54D8690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A5EAB7CE-7E2C-C83F-CA26-B82CD22D7F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56ABB1-B727-42E1-97D8-FD52BC4C149B}" type="datetimeFigureOut">
              <a:rPr lang="ko-KR" altLang="en-US" smtClean="0"/>
              <a:t>2026-01-24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14B391D0-A5C4-23F3-DE8D-F8EE327690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B13F5C90-EF33-4C44-BD2B-CE82AFC306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3EF514-EB1E-4E5A-B985-533C0042800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053841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3443F3D-20F4-9B8C-3EC3-4DB67CBE24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348B9BD0-BB62-09FF-6F33-08A0BB33B7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56ABB1-B727-42E1-97D8-FD52BC4C149B}" type="datetimeFigureOut">
              <a:rPr lang="ko-KR" altLang="en-US" smtClean="0"/>
              <a:t>2026-01-24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668465F7-D93E-38E1-858B-0EF27C8799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A3E249E-28E9-86E3-7E1C-18E7E02BE9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3EF514-EB1E-4E5A-B985-533C0042800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396733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D1533334-360B-A406-4190-81DAE0499A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56ABB1-B727-42E1-97D8-FD52BC4C149B}" type="datetimeFigureOut">
              <a:rPr lang="ko-KR" altLang="en-US" smtClean="0"/>
              <a:t>2026-01-24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D93BF206-3E33-29E2-5C16-BBFB630F38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F4AAFF5-C916-90D9-1DC4-5791A0AA06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3EF514-EB1E-4E5A-B985-533C0042800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076375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8963A67-CCF5-CAFE-BEF8-BDD99BE88C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70F3B93-1D9B-1AA8-8DEC-569CF9408D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D86D4CA-0AFF-5BA3-6EC2-A08E4EDACA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BBD17CB-02FF-38CB-43D8-20C3175F00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56ABB1-B727-42E1-97D8-FD52BC4C149B}" type="datetimeFigureOut">
              <a:rPr lang="ko-KR" altLang="en-US" smtClean="0"/>
              <a:t>2026-01-24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0BF055E-3468-7E7D-045F-6ED39C3B62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19DCAC1-F6A6-E4ED-10E0-CA8ADB6D3E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3EF514-EB1E-4E5A-B985-533C0042800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333065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C75528A-4235-C077-53D3-E9154DCF87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F8EECD98-AC4C-E709-315E-9631E7DE8D9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234A32E-DBED-2294-A1D1-B7CE2CF42A4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17497E7-CE31-7E47-E830-80E7D8E9E5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56ABB1-B727-42E1-97D8-FD52BC4C149B}" type="datetimeFigureOut">
              <a:rPr lang="ko-KR" altLang="en-US" smtClean="0"/>
              <a:t>2026-01-24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27B6344-94A6-E79F-A0CE-6C642FCD95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D2FF2E6-110D-8C81-40BB-F1A5F47F50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3EF514-EB1E-4E5A-B985-533C0042800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979978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31EF611-A467-C8DC-92EE-27E4B7EC54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D2E0EE0-DA41-15C0-9B06-5013B279EF8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C57A1A9-7ECE-8580-0FA8-DF7F1214C6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56ABB1-B727-42E1-97D8-FD52BC4C149B}" type="datetimeFigureOut">
              <a:rPr lang="ko-KR" altLang="en-US" smtClean="0"/>
              <a:t>2026-01-24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458A4C7-4111-DF27-6924-2AEDC11F17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D0A6897-7992-26ED-1568-D99E00CDB6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3EF514-EB1E-4E5A-B985-533C0042800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970089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49B9F995-E3A7-90C3-14AE-0D2041FF550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4C61701C-1D8D-C727-73A5-1BFDBE81007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3DAA5AE-329A-B126-D47B-F851FD073F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56ABB1-B727-42E1-97D8-FD52BC4C149B}" type="datetimeFigureOut">
              <a:rPr lang="ko-KR" altLang="en-US" smtClean="0"/>
              <a:t>2026-01-24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A85543A-5A52-2B04-514C-C17DDA2744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564BAF8-5BC7-7767-D3E8-EF9F406462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3EF514-EB1E-4E5A-B985-533C0042800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077514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3EE2B65-658B-C447-69BB-8BACF82C0B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1AE8386-97ED-1B95-C0AB-2C532AB29A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6DDD570-490D-0F17-E9B1-95A1FE5A8C1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556ABB1-B727-42E1-97D8-FD52BC4C149B}" type="datetimeFigureOut">
              <a:rPr lang="ko-KR" altLang="en-US" smtClean="0"/>
              <a:t>2026-01-24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D7692E1-1810-10D2-4843-102CD5A4AFB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A748F57-92B7-6AD6-0289-1A8F6A0F281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F3EF514-EB1E-4E5A-B985-533C0042800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970325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601FC2-92D2-B9C5-4B3E-BBC405DAF8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직사각형 10">
            <a:extLst>
              <a:ext uri="{FF2B5EF4-FFF2-40B4-BE49-F238E27FC236}">
                <a16:creationId xmlns:a16="http://schemas.microsoft.com/office/drawing/2014/main" id="{25AD359E-5640-E4B1-2FFE-CAA601ECA6C6}"/>
              </a:ext>
            </a:extLst>
          </p:cNvPr>
          <p:cNvSpPr/>
          <p:nvPr/>
        </p:nvSpPr>
        <p:spPr>
          <a:xfrm>
            <a:off x="955964" y="2137991"/>
            <a:ext cx="10790959" cy="264124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F75B497B-7491-C46F-7306-257B4AA4314C}"/>
              </a:ext>
            </a:extLst>
          </p:cNvPr>
          <p:cNvSpPr/>
          <p:nvPr/>
        </p:nvSpPr>
        <p:spPr>
          <a:xfrm>
            <a:off x="4890789" y="4401783"/>
            <a:ext cx="2702504" cy="2597849"/>
          </a:xfrm>
          <a:prstGeom prst="ellipse">
            <a:avLst/>
          </a:prstGeom>
          <a:ln>
            <a:solidFill>
              <a:schemeClr val="bg1">
                <a:lumMod val="8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DEEA421-8C55-5E07-24EA-5807E6AC03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8131" y="2824482"/>
            <a:ext cx="5270425" cy="1214438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8769B09C-7A5B-D282-E29D-1910849649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7766" y="2832342"/>
            <a:ext cx="3773011" cy="1120113"/>
          </a:xfrm>
          <a:prstGeom prst="rect">
            <a:avLst/>
          </a:prstGeom>
        </p:spPr>
      </p:pic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9860EDCC-6E4A-DCFB-4887-29FF771218FA}"/>
              </a:ext>
            </a:extLst>
          </p:cNvPr>
          <p:cNvCxnSpPr>
            <a:cxnSpLocks/>
          </p:cNvCxnSpPr>
          <p:nvPr/>
        </p:nvCxnSpPr>
        <p:spPr>
          <a:xfrm>
            <a:off x="4721154" y="312659"/>
            <a:ext cx="0" cy="5424578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717E0259-F161-E906-6807-37A82DE12543}"/>
              </a:ext>
            </a:extLst>
          </p:cNvPr>
          <p:cNvCxnSpPr>
            <a:cxnSpLocks/>
          </p:cNvCxnSpPr>
          <p:nvPr/>
        </p:nvCxnSpPr>
        <p:spPr>
          <a:xfrm>
            <a:off x="7845354" y="312659"/>
            <a:ext cx="0" cy="5424578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1" name="그룹 30">
            <a:extLst>
              <a:ext uri="{FF2B5EF4-FFF2-40B4-BE49-F238E27FC236}">
                <a16:creationId xmlns:a16="http://schemas.microsoft.com/office/drawing/2014/main" id="{3B138185-6639-A2B7-BA25-7D42353A3241}"/>
              </a:ext>
            </a:extLst>
          </p:cNvPr>
          <p:cNvGrpSpPr/>
          <p:nvPr/>
        </p:nvGrpSpPr>
        <p:grpSpPr>
          <a:xfrm>
            <a:off x="1111179" y="3352812"/>
            <a:ext cx="10480528" cy="0"/>
            <a:chOff x="1069966" y="3175585"/>
            <a:chExt cx="10480528" cy="0"/>
          </a:xfrm>
        </p:grpSpPr>
        <p:cxnSp>
          <p:nvCxnSpPr>
            <p:cNvPr id="19" name="직선 화살표 연결선 18">
              <a:extLst>
                <a:ext uri="{FF2B5EF4-FFF2-40B4-BE49-F238E27FC236}">
                  <a16:creationId xmlns:a16="http://schemas.microsoft.com/office/drawing/2014/main" id="{351652A1-CF24-5336-4933-55FA2F4249E6}"/>
                </a:ext>
              </a:extLst>
            </p:cNvPr>
            <p:cNvCxnSpPr>
              <a:cxnSpLocks/>
            </p:cNvCxnSpPr>
            <p:nvPr/>
          </p:nvCxnSpPr>
          <p:spPr>
            <a:xfrm>
              <a:off x="1069966" y="3175585"/>
              <a:ext cx="926953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직선 화살표 연결선 19">
              <a:extLst>
                <a:ext uri="{FF2B5EF4-FFF2-40B4-BE49-F238E27FC236}">
                  <a16:creationId xmlns:a16="http://schemas.microsoft.com/office/drawing/2014/main" id="{AB01EF0F-2BC8-D62B-A68B-C8B9D4A6716C}"/>
                </a:ext>
              </a:extLst>
            </p:cNvPr>
            <p:cNvCxnSpPr>
              <a:cxnSpLocks/>
            </p:cNvCxnSpPr>
            <p:nvPr/>
          </p:nvCxnSpPr>
          <p:spPr>
            <a:xfrm>
              <a:off x="10623541" y="3175585"/>
              <a:ext cx="926953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ACC4F43D-0F34-11E1-29BF-7268019657EF}"/>
              </a:ext>
            </a:extLst>
          </p:cNvPr>
          <p:cNvSpPr/>
          <p:nvPr/>
        </p:nvSpPr>
        <p:spPr>
          <a:xfrm>
            <a:off x="5504465" y="4978296"/>
            <a:ext cx="1513301" cy="758941"/>
          </a:xfrm>
          <a:prstGeom prst="rect">
            <a:avLst/>
          </a:prstGeom>
          <a:noFill/>
          <a:ln>
            <a:solidFill>
              <a:srgbClr val="A4A4A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50050C19-C3EA-39E0-62BB-BE0EAF4CDD21}"/>
              </a:ext>
            </a:extLst>
          </p:cNvPr>
          <p:cNvCxnSpPr>
            <a:cxnSpLocks/>
          </p:cNvCxnSpPr>
          <p:nvPr/>
        </p:nvCxnSpPr>
        <p:spPr>
          <a:xfrm>
            <a:off x="6261116" y="3724595"/>
            <a:ext cx="0" cy="1253701"/>
          </a:xfrm>
          <a:prstGeom prst="straightConnector1">
            <a:avLst/>
          </a:prstGeom>
          <a:ln>
            <a:solidFill>
              <a:srgbClr val="A4A4A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94C7349F-0ADE-F50B-6181-BFA7249EBF2F}"/>
              </a:ext>
            </a:extLst>
          </p:cNvPr>
          <p:cNvSpPr/>
          <p:nvPr/>
        </p:nvSpPr>
        <p:spPr>
          <a:xfrm flipV="1">
            <a:off x="6124235" y="3481766"/>
            <a:ext cx="273761" cy="24282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noFill/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A72F583B-2A62-D8E2-68C2-E59D37355CCA}"/>
              </a:ext>
            </a:extLst>
          </p:cNvPr>
          <p:cNvSpPr/>
          <p:nvPr/>
        </p:nvSpPr>
        <p:spPr>
          <a:xfrm flipV="1">
            <a:off x="6124235" y="4978296"/>
            <a:ext cx="273761" cy="24282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noFill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F04BA77-A9DC-451A-5865-45E543777213}"/>
              </a:ext>
            </a:extLst>
          </p:cNvPr>
          <p:cNvSpPr txBox="1"/>
          <p:nvPr/>
        </p:nvSpPr>
        <p:spPr>
          <a:xfrm>
            <a:off x="5784505" y="5188489"/>
            <a:ext cx="94609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>
                <a:solidFill>
                  <a:srgbClr val="708A41"/>
                </a:solidFill>
              </a:rPr>
              <a:t>Domain</a:t>
            </a:r>
            <a:endParaRPr lang="ko-KR" altLang="en-US" sz="1600" b="1">
              <a:solidFill>
                <a:srgbClr val="708A4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1BA7D44-40A4-4FF1-076B-FAB817DBA8D6}"/>
              </a:ext>
            </a:extLst>
          </p:cNvPr>
          <p:cNvSpPr txBox="1"/>
          <p:nvPr/>
        </p:nvSpPr>
        <p:spPr>
          <a:xfrm>
            <a:off x="1941479" y="460260"/>
            <a:ext cx="17296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b="1">
                <a:solidFill>
                  <a:srgbClr val="0070C0"/>
                </a:solidFill>
              </a:rPr>
              <a:t>Adapter </a:t>
            </a:r>
            <a:r>
              <a:rPr lang="en-GB" altLang="ko-KR" b="1">
                <a:solidFill>
                  <a:srgbClr val="0070C0"/>
                </a:solidFill>
              </a:rPr>
              <a:t>Layer</a:t>
            </a:r>
            <a:endParaRPr lang="ko-KR" altLang="en-US" b="1">
              <a:solidFill>
                <a:srgbClr val="0070C0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70FF85F-1DCF-3092-3BEE-CCB69012E2A4}"/>
              </a:ext>
            </a:extLst>
          </p:cNvPr>
          <p:cNvSpPr txBox="1"/>
          <p:nvPr/>
        </p:nvSpPr>
        <p:spPr>
          <a:xfrm>
            <a:off x="8995179" y="460260"/>
            <a:ext cx="17296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b="1">
                <a:solidFill>
                  <a:srgbClr val="0070C0"/>
                </a:solidFill>
              </a:rPr>
              <a:t>Adapter </a:t>
            </a:r>
            <a:r>
              <a:rPr lang="en-GB" altLang="ko-KR" b="1">
                <a:solidFill>
                  <a:srgbClr val="0070C0"/>
                </a:solidFill>
              </a:rPr>
              <a:t>Layer</a:t>
            </a:r>
            <a:endParaRPr lang="ko-KR" altLang="en-US" b="1">
              <a:solidFill>
                <a:srgbClr val="0070C0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952731A-141A-9D37-6B5E-500A9C271733}"/>
              </a:ext>
            </a:extLst>
          </p:cNvPr>
          <p:cNvSpPr txBox="1"/>
          <p:nvPr/>
        </p:nvSpPr>
        <p:spPr>
          <a:xfrm>
            <a:off x="5232774" y="460260"/>
            <a:ext cx="2100960" cy="65088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b="1">
                <a:solidFill>
                  <a:srgbClr val="0070C0"/>
                </a:solidFill>
              </a:rPr>
              <a:t>Application </a:t>
            </a:r>
            <a:r>
              <a:rPr lang="en-GB" altLang="ko-KR" b="1">
                <a:solidFill>
                  <a:srgbClr val="0070C0"/>
                </a:solidFill>
              </a:rPr>
              <a:t>Layer</a:t>
            </a:r>
          </a:p>
          <a:p>
            <a:pPr algn="ctr">
              <a:lnSpc>
                <a:spcPct val="150000"/>
              </a:lnSpc>
            </a:pPr>
            <a:r>
              <a:rPr lang="en-GB" altLang="ko-KR" sz="1400" b="1">
                <a:solidFill>
                  <a:srgbClr val="0070C0"/>
                </a:solidFill>
              </a:rPr>
              <a:t>(Use Case)</a:t>
            </a:r>
            <a:endParaRPr lang="ko-KR" altLang="en-US" b="1">
              <a:solidFill>
                <a:srgbClr val="0070C0"/>
              </a:solidFill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639DF5E5-63D7-BCEB-0A06-9B2AED5A5CE3}"/>
              </a:ext>
            </a:extLst>
          </p:cNvPr>
          <p:cNvSpPr/>
          <p:nvPr/>
        </p:nvSpPr>
        <p:spPr>
          <a:xfrm>
            <a:off x="4839335" y="5754199"/>
            <a:ext cx="2900515" cy="87728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solidFill>
                  <a:schemeClr val="bg1"/>
                </a:solidFill>
              </a:ln>
              <a:solidFill>
                <a:schemeClr val="bg1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72F4548-4A68-0146-5537-F64E0CED593D}"/>
              </a:ext>
            </a:extLst>
          </p:cNvPr>
          <p:cNvSpPr txBox="1"/>
          <p:nvPr/>
        </p:nvSpPr>
        <p:spPr>
          <a:xfrm>
            <a:off x="5429941" y="5834271"/>
            <a:ext cx="1706621" cy="65088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b="1">
                <a:solidFill>
                  <a:srgbClr val="0070C0"/>
                </a:solidFill>
              </a:rPr>
              <a:t>Domain </a:t>
            </a:r>
            <a:r>
              <a:rPr lang="en-GB" altLang="ko-KR" b="1">
                <a:solidFill>
                  <a:srgbClr val="0070C0"/>
                </a:solidFill>
              </a:rPr>
              <a:t>Layer</a:t>
            </a:r>
          </a:p>
          <a:p>
            <a:pPr algn="ctr">
              <a:lnSpc>
                <a:spcPct val="150000"/>
              </a:lnSpc>
            </a:pPr>
            <a:r>
              <a:rPr lang="en-GB" altLang="ko-KR" sz="1400" b="1">
                <a:solidFill>
                  <a:srgbClr val="0070C0"/>
                </a:solidFill>
              </a:rPr>
              <a:t>(Aggregate Root)</a:t>
            </a:r>
            <a:endParaRPr lang="ko-KR" altLang="en-US" sz="1400" b="1">
              <a:solidFill>
                <a:srgbClr val="0070C0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2AF5DAC-1D8A-8079-D419-A70FED8449DF}"/>
              </a:ext>
            </a:extLst>
          </p:cNvPr>
          <p:cNvSpPr txBox="1"/>
          <p:nvPr/>
        </p:nvSpPr>
        <p:spPr>
          <a:xfrm>
            <a:off x="4543201" y="4173034"/>
            <a:ext cx="1661993" cy="6106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en-US" altLang="ko-KR" sz="1200" b="1">
                <a:solidFill>
                  <a:srgbClr val="C00000"/>
                </a:solidFill>
              </a:rPr>
              <a:t>Fin&lt;T&gt;</a:t>
            </a:r>
          </a:p>
          <a:p>
            <a:pPr algn="r">
              <a:lnSpc>
                <a:spcPct val="150000"/>
              </a:lnSpc>
            </a:pPr>
            <a:r>
              <a:rPr lang="en-US" altLang="ko-KR" sz="1200" b="1">
                <a:solidFill>
                  <a:srgbClr val="C00000"/>
                </a:solidFill>
              </a:rPr>
              <a:t>Validation&lt;Error,</a:t>
            </a:r>
            <a:r>
              <a:rPr lang="ko-KR" altLang="en-US" sz="1200" b="1">
                <a:solidFill>
                  <a:srgbClr val="C00000"/>
                </a:solidFill>
              </a:rPr>
              <a:t> </a:t>
            </a:r>
            <a:r>
              <a:rPr lang="en-US" altLang="ko-KR" sz="1200" b="1">
                <a:solidFill>
                  <a:srgbClr val="C00000"/>
                </a:solidFill>
              </a:rPr>
              <a:t>T&gt;</a:t>
            </a:r>
            <a:endParaRPr lang="ko-KR" altLang="en-US" sz="1200" b="1">
              <a:solidFill>
                <a:srgbClr val="C00000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F272F85-8FF6-7BD5-CA23-51888AB3F256}"/>
              </a:ext>
            </a:extLst>
          </p:cNvPr>
          <p:cNvSpPr txBox="1"/>
          <p:nvPr/>
        </p:nvSpPr>
        <p:spPr>
          <a:xfrm>
            <a:off x="8846654" y="1810103"/>
            <a:ext cx="2485937" cy="8876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200" b="1">
                <a:solidFill>
                  <a:srgbClr val="C00000"/>
                </a:solidFill>
              </a:rPr>
              <a:t>IAdatper</a:t>
            </a:r>
          </a:p>
          <a:p>
            <a:pPr>
              <a:lnSpc>
                <a:spcPct val="150000"/>
              </a:lnSpc>
            </a:pPr>
            <a:r>
              <a:rPr lang="en-US" altLang="ko-KR" sz="1200" b="1">
                <a:solidFill>
                  <a:srgbClr val="C00000"/>
                </a:solidFill>
              </a:rPr>
              <a:t>Observability Source Generator</a:t>
            </a:r>
          </a:p>
          <a:p>
            <a:pPr>
              <a:lnSpc>
                <a:spcPct val="150000"/>
              </a:lnSpc>
            </a:pPr>
            <a:r>
              <a:rPr lang="en-US" altLang="ko-KR" sz="1200" b="1">
                <a:solidFill>
                  <a:srgbClr val="C00000"/>
                </a:solidFill>
              </a:rPr>
              <a:t>FinT&lt;IO, T&gt;</a:t>
            </a:r>
            <a:endParaRPr lang="ko-KR" altLang="en-US" sz="1200" b="1">
              <a:solidFill>
                <a:srgbClr val="C00000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79DD95D-4D18-DA4D-6926-65A9CEA63EE4}"/>
              </a:ext>
            </a:extLst>
          </p:cNvPr>
          <p:cNvSpPr txBox="1"/>
          <p:nvPr/>
        </p:nvSpPr>
        <p:spPr>
          <a:xfrm>
            <a:off x="4740409" y="1117605"/>
            <a:ext cx="4398961" cy="158011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200" b="1">
                <a:solidFill>
                  <a:srgbClr val="C00000"/>
                </a:solidFill>
              </a:rPr>
              <a:t>CQRS</a:t>
            </a:r>
          </a:p>
          <a:p>
            <a:pPr marL="266700" lvl="1" indent="-179388">
              <a:lnSpc>
                <a:spcPct val="150000"/>
              </a:lnSpc>
              <a:buFontTx/>
              <a:buChar char="-"/>
            </a:pPr>
            <a:r>
              <a:rPr lang="en-US" altLang="ko-KR" sz="1000">
                <a:solidFill>
                  <a:srgbClr val="C00000"/>
                </a:solidFill>
              </a:rPr>
              <a:t>ICommandRequest&lt;TInput&gt;, ICommandUsecase&lt;TInput, TOutput&gt;</a:t>
            </a:r>
          </a:p>
          <a:p>
            <a:pPr marL="266700" lvl="1" indent="-179388">
              <a:lnSpc>
                <a:spcPct val="150000"/>
              </a:lnSpc>
              <a:buFontTx/>
              <a:buChar char="-"/>
            </a:pPr>
            <a:r>
              <a:rPr lang="en-US" altLang="ko-KR" sz="1000">
                <a:solidFill>
                  <a:srgbClr val="C00000"/>
                </a:solidFill>
              </a:rPr>
              <a:t>IQueryRequest&lt;TInput&gt;, IQueryUsecase&lt;TInput, TOutput&gt;</a:t>
            </a:r>
          </a:p>
          <a:p>
            <a:pPr marL="266700" lvl="1" indent="-179388">
              <a:lnSpc>
                <a:spcPct val="150000"/>
              </a:lnSpc>
              <a:buFontTx/>
              <a:buChar char="-"/>
            </a:pPr>
            <a:r>
              <a:rPr lang="en-US" altLang="ko-KR" sz="1000">
                <a:solidFill>
                  <a:srgbClr val="C00000"/>
                </a:solidFill>
              </a:rPr>
              <a:t>IFinResponse&lt;T&gt;</a:t>
            </a:r>
          </a:p>
          <a:p>
            <a:pPr>
              <a:lnSpc>
                <a:spcPct val="150000"/>
              </a:lnSpc>
            </a:pPr>
            <a:r>
              <a:rPr lang="en-US" altLang="ko-KR" sz="1200" b="1">
                <a:solidFill>
                  <a:srgbClr val="C00000"/>
                </a:solidFill>
              </a:rPr>
              <a:t>Observability CQRS Pipeline</a:t>
            </a:r>
          </a:p>
          <a:p>
            <a:pPr>
              <a:lnSpc>
                <a:spcPct val="150000"/>
              </a:lnSpc>
            </a:pPr>
            <a:r>
              <a:rPr lang="en-US" altLang="ko-KR" sz="1200" b="1">
                <a:solidFill>
                  <a:srgbClr val="C00000"/>
                </a:solidFill>
              </a:rPr>
              <a:t>FinT&lt;IO, T&gt; LINQ</a:t>
            </a:r>
            <a:endParaRPr lang="ko-KR" altLang="en-US" sz="1200" b="1">
              <a:solidFill>
                <a:srgbClr val="C00000"/>
              </a:solidFill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14328AF9-F9CF-A7A6-A685-6BAFD38CDE60}"/>
              </a:ext>
            </a:extLst>
          </p:cNvPr>
          <p:cNvSpPr/>
          <p:nvPr/>
        </p:nvSpPr>
        <p:spPr>
          <a:xfrm>
            <a:off x="955964" y="316923"/>
            <a:ext cx="10790959" cy="632286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FFFC683-418C-82B0-C157-13538F74C076}"/>
              </a:ext>
            </a:extLst>
          </p:cNvPr>
          <p:cNvSpPr txBox="1"/>
          <p:nvPr/>
        </p:nvSpPr>
        <p:spPr>
          <a:xfrm>
            <a:off x="1794987" y="1117605"/>
            <a:ext cx="2027093" cy="158011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200" b="1">
                <a:solidFill>
                  <a:srgbClr val="C00000"/>
                </a:solidFill>
              </a:rPr>
              <a:t>Structured Error</a:t>
            </a:r>
          </a:p>
          <a:p>
            <a:pPr marL="266700" lvl="1" indent="-179388">
              <a:lnSpc>
                <a:spcPct val="150000"/>
              </a:lnSpc>
              <a:buFontTx/>
              <a:buChar char="-"/>
            </a:pPr>
            <a:r>
              <a:rPr lang="en-US" altLang="ko-KR" sz="1000">
                <a:solidFill>
                  <a:srgbClr val="C00000"/>
                </a:solidFill>
              </a:rPr>
              <a:t>ErrorCodeExpected </a:t>
            </a:r>
          </a:p>
          <a:p>
            <a:pPr marL="266700" lvl="1" indent="-179388">
              <a:lnSpc>
                <a:spcPct val="150000"/>
              </a:lnSpc>
              <a:buFontTx/>
              <a:buChar char="-"/>
            </a:pPr>
            <a:r>
              <a:rPr lang="en-US" altLang="ko-KR" sz="1000">
                <a:solidFill>
                  <a:srgbClr val="C00000"/>
                </a:solidFill>
              </a:rPr>
              <a:t>ErrorCodeExceptional </a:t>
            </a:r>
          </a:p>
          <a:p>
            <a:pPr marL="266700" lvl="1" indent="-179388">
              <a:lnSpc>
                <a:spcPct val="150000"/>
              </a:lnSpc>
              <a:buFontTx/>
              <a:buChar char="-"/>
            </a:pPr>
            <a:r>
              <a:rPr lang="en-US" altLang="ko-KR" sz="1000">
                <a:solidFill>
                  <a:srgbClr val="C00000"/>
                </a:solidFill>
              </a:rPr>
              <a:t>ManyErrors</a:t>
            </a:r>
          </a:p>
          <a:p>
            <a:pPr>
              <a:lnSpc>
                <a:spcPct val="150000"/>
              </a:lnSpc>
            </a:pPr>
            <a:r>
              <a:rPr lang="en-US" altLang="ko-KR" sz="1200" b="1">
                <a:solidFill>
                  <a:srgbClr val="C00000"/>
                </a:solidFill>
              </a:rPr>
              <a:t>Observability Pipeline</a:t>
            </a:r>
          </a:p>
          <a:p>
            <a:pPr>
              <a:lnSpc>
                <a:spcPct val="150000"/>
              </a:lnSpc>
            </a:pPr>
            <a:r>
              <a:rPr lang="en-US" altLang="ko-KR" sz="1200" b="1">
                <a:solidFill>
                  <a:srgbClr val="C00000"/>
                </a:solidFill>
              </a:rPr>
              <a:t>Dependency Registration</a:t>
            </a:r>
          </a:p>
        </p:txBody>
      </p:sp>
    </p:spTree>
    <p:extLst>
      <p:ext uri="{BB962C8B-B14F-4D97-AF65-F5344CB8AC3E}">
        <p14:creationId xmlns:p14="http://schemas.microsoft.com/office/powerpoint/2010/main" val="28429275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A2DBE9-0EA4-845F-9611-1113F104C7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그림 28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D163CFB-EACC-C65D-230A-AAB6AE7E23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105" y="0"/>
            <a:ext cx="9362209" cy="4040610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pic>
        <p:nvPicPr>
          <p:cNvPr id="11" name="그림 10" descr="텍스트, 스크린샷, 번호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DDB54AF-0452-D2F9-429C-9CDF20B1E2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171" y="2389485"/>
            <a:ext cx="11470724" cy="4468515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E9F915F4-1E4A-9EBC-2CCF-CCEB97A62E93}"/>
              </a:ext>
            </a:extLst>
          </p:cNvPr>
          <p:cNvSpPr/>
          <p:nvPr/>
        </p:nvSpPr>
        <p:spPr>
          <a:xfrm>
            <a:off x="4090988" y="1662113"/>
            <a:ext cx="1419225" cy="385758"/>
          </a:xfrm>
          <a:prstGeom prst="roundRect">
            <a:avLst/>
          </a:prstGeom>
          <a:noFill/>
          <a:ln w="381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9B5ED948-582C-C475-4019-5A40347EF64C}"/>
              </a:ext>
            </a:extLst>
          </p:cNvPr>
          <p:cNvSpPr/>
          <p:nvPr/>
        </p:nvSpPr>
        <p:spPr>
          <a:xfrm>
            <a:off x="928686" y="5122456"/>
            <a:ext cx="1495426" cy="344894"/>
          </a:xfrm>
          <a:prstGeom prst="roundRect">
            <a:avLst/>
          </a:prstGeom>
          <a:noFill/>
          <a:ln w="381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11CD7DB-69C2-BC7F-3752-29CA15518467}"/>
              </a:ext>
            </a:extLst>
          </p:cNvPr>
          <p:cNvSpPr txBox="1"/>
          <p:nvPr/>
        </p:nvSpPr>
        <p:spPr>
          <a:xfrm>
            <a:off x="3339834" y="3160186"/>
            <a:ext cx="3270516" cy="868146"/>
          </a:xfrm>
          <a:prstGeom prst="rect">
            <a:avLst/>
          </a:prstGeom>
          <a:solidFill>
            <a:schemeClr val="bg1"/>
          </a:solidFill>
        </p:spPr>
        <p:txBody>
          <a:bodyPr wrap="none" rtlCol="0" anchor="ctr" anchorCtr="0">
            <a:noAutofit/>
          </a:bodyPr>
          <a:lstStyle/>
          <a:p>
            <a:pPr algn="ctr"/>
            <a:r>
              <a:rPr lang="en-GB" b="1">
                <a:solidFill>
                  <a:srgbClr val="0070C0"/>
                </a:solidFill>
              </a:rPr>
              <a:t>application usecase.query</a:t>
            </a:r>
          </a:p>
          <a:p>
            <a:r>
              <a:rPr lang="en-GB" b="1">
                <a:solidFill>
                  <a:srgbClr val="0070C0"/>
                </a:solidFill>
              </a:rPr>
              <a:t>     {Layer}        {CQRS}</a:t>
            </a:r>
          </a:p>
        </p:txBody>
      </p: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A307D2D5-212A-057F-7D7C-927F6EDF1DAF}"/>
              </a:ext>
            </a:extLst>
          </p:cNvPr>
          <p:cNvCxnSpPr>
            <a:stCxn id="41" idx="2"/>
          </p:cNvCxnSpPr>
          <p:nvPr/>
        </p:nvCxnSpPr>
        <p:spPr>
          <a:xfrm flipH="1">
            <a:off x="1757363" y="2047871"/>
            <a:ext cx="3043238" cy="3024192"/>
          </a:xfrm>
          <a:prstGeom prst="straightConnector1">
            <a:avLst/>
          </a:prstGeom>
          <a:ln>
            <a:solidFill>
              <a:srgbClr val="0070C0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3626907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788</TotalTime>
  <Words>92</Words>
  <Application>Microsoft Office PowerPoint</Application>
  <PresentationFormat>와이드스크린</PresentationFormat>
  <Paragraphs>26</Paragraphs>
  <Slides>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</vt:i4>
      </vt:variant>
    </vt:vector>
  </HeadingPairs>
  <TitlesOfParts>
    <vt:vector size="5" baseType="lpstr">
      <vt:lpstr>맑은 고딕</vt:lpstr>
      <vt:lpstr>Arial</vt:lpstr>
      <vt:lpstr>Office 테마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고형호</dc:creator>
  <cp:lastModifiedBy>형호 고</cp:lastModifiedBy>
  <cp:revision>15</cp:revision>
  <dcterms:created xsi:type="dcterms:W3CDTF">2025-11-24T08:23:30Z</dcterms:created>
  <dcterms:modified xsi:type="dcterms:W3CDTF">2026-01-23T15:28:34Z</dcterms:modified>
</cp:coreProperties>
</file>
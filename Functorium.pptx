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72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8A41"/>
    <a:srgbClr val="CDD9AC"/>
    <a:srgbClr val="A4A4A4"/>
    <a:srgbClr val="FFFC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43" d="100"/>
          <a:sy n="143" d="100"/>
        </p:scale>
        <p:origin x="900" y="102"/>
      </p:cViewPr>
      <p:guideLst/>
    </p:cSldViewPr>
  </p:slideViewPr>
  <p:notesTextViewPr>
    <p:cViewPr>
      <p:scale>
        <a:sx n="3" d="2"/>
        <a:sy n="3" d="2"/>
      </p:scale>
      <p:origin x="-6" y="-1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110D00-AD6B-EC4B-B604-320DDBC09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1AA321A-DFB6-E36B-7BD3-CDDE1A1218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AF3E4-0792-5697-F17B-D7C751106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6ABB1-B727-42E1-97D8-FD52BC4C149B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765D37-E06F-198E-41AC-5C2C6D756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53DEBF-2E71-27CA-1768-845CCABA5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EF514-EB1E-4E5A-B985-533C00428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5583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2AD074-FCCA-2796-7CF9-3E1C6C7E3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17D487-B912-1285-A89A-397869B1D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64FE61-FC8A-574B-B14D-70CA07832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6ABB1-B727-42E1-97D8-FD52BC4C149B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025C93-599A-8B57-207E-6A5AC63CB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53656E-38D2-D931-2593-95C791E04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EF514-EB1E-4E5A-B985-533C00428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8090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D6C96D-FF81-5F5E-3EA6-8896BEBE2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BF5E61-F9AF-BB2A-274F-FEF7633255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B18C96-7E31-E011-8F4D-6EF31851B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6ABB1-B727-42E1-97D8-FD52BC4C149B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094644-767D-92E6-9BD3-E385FE1D3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90C251-7898-ED37-5E51-B9C452344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EF514-EB1E-4E5A-B985-533C00428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614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64B926-B3E7-159C-D61A-93A8E6D08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7FDAFD-1280-292F-8474-4AD5301AC8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C771FDD-2846-7115-26AC-70D25E7487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EA92DFA-37E9-CE5F-49DF-96B02BD3A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6ABB1-B727-42E1-97D8-FD52BC4C149B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1997715-BE3E-15A1-C08D-B0F06E5A8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7C88817-5FC5-3A99-F6CA-0316F586E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EF514-EB1E-4E5A-B985-533C00428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942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00DA2E-3518-F84D-AE5E-6076CC0D7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E345A6B-AF8C-7955-1CE2-400C792D9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71D3606-4DF3-772F-85B9-DCAC5D380C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456BE94-384B-35ED-E0CD-76AD07D7B3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54BE32F-8822-CAEB-EC3B-B4EF54D869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5EAB7CE-7E2C-C83F-CA26-B82CD22D7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6ABB1-B727-42E1-97D8-FD52BC4C149B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4B391D0-A5C4-23F3-DE8D-F8EE32769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13F5C90-EF33-4C44-BD2B-CE82AFC30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EF514-EB1E-4E5A-B985-533C00428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5384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443F3D-20F4-9B8C-3EC3-4DB67CBE2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48B9BD0-BB62-09FF-6F33-08A0BB33B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6ABB1-B727-42E1-97D8-FD52BC4C149B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68465F7-D93E-38E1-858B-0EF27C879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A3E249E-28E9-86E3-7E1C-18E7E02BE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EF514-EB1E-4E5A-B985-533C00428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9673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1533334-360B-A406-4190-81DAE0499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6ABB1-B727-42E1-97D8-FD52BC4C149B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93BF206-3E33-29E2-5C16-BBFB630F3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4AAFF5-C916-90D9-1DC4-5791A0AA0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EF514-EB1E-4E5A-B985-533C00428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7637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963A67-CCF5-CAFE-BEF8-BDD99BE88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0F3B93-1D9B-1AA8-8DEC-569CF9408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D86D4CA-0AFF-5BA3-6EC2-A08E4EDACA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BBD17CB-02FF-38CB-43D8-20C3175F0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6ABB1-B727-42E1-97D8-FD52BC4C149B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0BF055E-3468-7E7D-045F-6ED39C3B6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19DCAC1-F6A6-E4ED-10E0-CA8ADB6D3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EF514-EB1E-4E5A-B985-533C00428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3306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75528A-4235-C077-53D3-E9154DCF8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8EECD98-AC4C-E709-315E-9631E7DE8D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234A32E-DBED-2294-A1D1-B7CE2CF42A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7497E7-CE31-7E47-E830-80E7D8E9E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6ABB1-B727-42E1-97D8-FD52BC4C149B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27B6344-94A6-E79F-A0CE-6C642FCD9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D2FF2E6-110D-8C81-40BB-F1A5F47F5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EF514-EB1E-4E5A-B985-533C00428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7997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1EF611-A467-C8DC-92EE-27E4B7EC5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D2E0EE0-DA41-15C0-9B06-5013B279EF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57A1A9-7ECE-8580-0FA8-DF7F1214C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6ABB1-B727-42E1-97D8-FD52BC4C149B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58A4C7-4111-DF27-6924-2AEDC11F1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0A6897-7992-26ED-1568-D99E00CDB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EF514-EB1E-4E5A-B985-533C00428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7008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9B9F995-E3A7-90C3-14AE-0D2041FF55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C61701C-1D8D-C727-73A5-1BFDBE8100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DAA5AE-329A-B126-D47B-F851FD073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6ABB1-B727-42E1-97D8-FD52BC4C149B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85543A-5A52-2B04-514C-C17DDA274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64BAF8-5BC7-7767-D3E8-EF9F40646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EF514-EB1E-4E5A-B985-533C00428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7751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3EE2B65-658B-C447-69BB-8BACF82C0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1AE8386-97ED-1B95-C0AB-2C532AB29A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DDD570-490D-0F17-E9B1-95A1FE5A8C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56ABB1-B727-42E1-97D8-FD52BC4C149B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7692E1-1810-10D2-4843-102CD5A4AF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748F57-92B7-6AD6-0289-1A8F6A0F28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3EF514-EB1E-4E5A-B985-533C00428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7032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01FC2-92D2-B9C5-4B3E-BBC405DAF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25AD359E-5640-E4B1-2FFE-CAA601ECA6C6}"/>
              </a:ext>
            </a:extLst>
          </p:cNvPr>
          <p:cNvSpPr/>
          <p:nvPr/>
        </p:nvSpPr>
        <p:spPr>
          <a:xfrm>
            <a:off x="955964" y="2215918"/>
            <a:ext cx="10790959" cy="2641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F75B497B-7491-C46F-7306-257B4AA4314C}"/>
              </a:ext>
            </a:extLst>
          </p:cNvPr>
          <p:cNvSpPr/>
          <p:nvPr/>
        </p:nvSpPr>
        <p:spPr>
          <a:xfrm>
            <a:off x="4890789" y="4469319"/>
            <a:ext cx="2702504" cy="2597849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29FBFE93-4EBE-85F6-0CC9-061083282764}"/>
              </a:ext>
            </a:extLst>
          </p:cNvPr>
          <p:cNvGrpSpPr/>
          <p:nvPr/>
        </p:nvGrpSpPr>
        <p:grpSpPr>
          <a:xfrm>
            <a:off x="1928131" y="2850454"/>
            <a:ext cx="8862646" cy="1214438"/>
            <a:chOff x="2476500" y="2557462"/>
            <a:chExt cx="7159625" cy="981075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0DEEA421-8C55-5E07-24EA-5807E6AC03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76500" y="2557462"/>
              <a:ext cx="4257675" cy="981075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8769B09C-7A5B-D282-E29D-1910849649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88125" y="2563812"/>
              <a:ext cx="3048000" cy="904875"/>
            </a:xfrm>
            <a:prstGeom prst="rect">
              <a:avLst/>
            </a:prstGeom>
          </p:spPr>
        </p:pic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960E446E-FFC8-5CCD-E9D6-B6F70ECF584E}"/>
              </a:ext>
            </a:extLst>
          </p:cNvPr>
          <p:cNvGrpSpPr/>
          <p:nvPr/>
        </p:nvGrpSpPr>
        <p:grpSpPr>
          <a:xfrm>
            <a:off x="4721154" y="312658"/>
            <a:ext cx="3124200" cy="5611719"/>
            <a:chOff x="4679941" y="414259"/>
            <a:chExt cx="3124200" cy="5470214"/>
          </a:xfrm>
        </p:grpSpPr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9860EDCC-6E4A-DCFB-4887-29FF771218FA}"/>
                </a:ext>
              </a:extLst>
            </p:cNvPr>
            <p:cNvCxnSpPr>
              <a:cxnSpLocks/>
            </p:cNvCxnSpPr>
            <p:nvPr/>
          </p:nvCxnSpPr>
          <p:spPr>
            <a:xfrm>
              <a:off x="4679941" y="414259"/>
              <a:ext cx="0" cy="5470214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717E0259-F161-E906-6807-37A82DE12543}"/>
                </a:ext>
              </a:extLst>
            </p:cNvPr>
            <p:cNvCxnSpPr>
              <a:cxnSpLocks/>
            </p:cNvCxnSpPr>
            <p:nvPr/>
          </p:nvCxnSpPr>
          <p:spPr>
            <a:xfrm>
              <a:off x="7804141" y="414259"/>
              <a:ext cx="0" cy="5470214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3B138185-6639-A2B7-BA25-7D42353A3241}"/>
              </a:ext>
            </a:extLst>
          </p:cNvPr>
          <p:cNvGrpSpPr/>
          <p:nvPr/>
        </p:nvGrpSpPr>
        <p:grpSpPr>
          <a:xfrm>
            <a:off x="1111179" y="3378784"/>
            <a:ext cx="10480528" cy="0"/>
            <a:chOff x="1069966" y="3175585"/>
            <a:chExt cx="10480528" cy="0"/>
          </a:xfrm>
        </p:grpSpPr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351652A1-CF24-5336-4933-55FA2F4249E6}"/>
                </a:ext>
              </a:extLst>
            </p:cNvPr>
            <p:cNvCxnSpPr>
              <a:cxnSpLocks/>
            </p:cNvCxnSpPr>
            <p:nvPr/>
          </p:nvCxnSpPr>
          <p:spPr>
            <a:xfrm>
              <a:off x="1069966" y="3175585"/>
              <a:ext cx="92695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AB01EF0F-2BC8-D62B-A68B-C8B9D4A6716C}"/>
                </a:ext>
              </a:extLst>
            </p:cNvPr>
            <p:cNvCxnSpPr>
              <a:cxnSpLocks/>
            </p:cNvCxnSpPr>
            <p:nvPr/>
          </p:nvCxnSpPr>
          <p:spPr>
            <a:xfrm>
              <a:off x="10623541" y="3175585"/>
              <a:ext cx="92695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CC4F43D-0F34-11E1-29BF-7268019657EF}"/>
              </a:ext>
            </a:extLst>
          </p:cNvPr>
          <p:cNvSpPr/>
          <p:nvPr/>
        </p:nvSpPr>
        <p:spPr>
          <a:xfrm>
            <a:off x="5504465" y="5004268"/>
            <a:ext cx="1513301" cy="758941"/>
          </a:xfrm>
          <a:prstGeom prst="rect">
            <a:avLst/>
          </a:prstGeom>
          <a:noFill/>
          <a:ln>
            <a:solidFill>
              <a:srgbClr val="A4A4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50050C19-C3EA-39E0-62BB-BE0EAF4CDD21}"/>
              </a:ext>
            </a:extLst>
          </p:cNvPr>
          <p:cNvCxnSpPr>
            <a:cxnSpLocks/>
          </p:cNvCxnSpPr>
          <p:nvPr/>
        </p:nvCxnSpPr>
        <p:spPr>
          <a:xfrm>
            <a:off x="6261116" y="3750567"/>
            <a:ext cx="0" cy="1253701"/>
          </a:xfrm>
          <a:prstGeom prst="straightConnector1">
            <a:avLst/>
          </a:prstGeom>
          <a:ln>
            <a:solidFill>
              <a:srgbClr val="A4A4A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4C7349F-0ADE-F50B-6181-BFA7249EBF2F}"/>
              </a:ext>
            </a:extLst>
          </p:cNvPr>
          <p:cNvSpPr/>
          <p:nvPr/>
        </p:nvSpPr>
        <p:spPr>
          <a:xfrm flipV="1">
            <a:off x="6124235" y="3507738"/>
            <a:ext cx="273761" cy="2428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72F583B-2A62-D8E2-68C2-E59D37355CCA}"/>
              </a:ext>
            </a:extLst>
          </p:cNvPr>
          <p:cNvSpPr/>
          <p:nvPr/>
        </p:nvSpPr>
        <p:spPr>
          <a:xfrm flipV="1">
            <a:off x="6124235" y="5004268"/>
            <a:ext cx="273761" cy="2428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04BA77-A9DC-451A-5865-45E543777213}"/>
              </a:ext>
            </a:extLst>
          </p:cNvPr>
          <p:cNvSpPr txBox="1"/>
          <p:nvPr/>
        </p:nvSpPr>
        <p:spPr>
          <a:xfrm>
            <a:off x="5784505" y="5214461"/>
            <a:ext cx="9460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>
                <a:solidFill>
                  <a:srgbClr val="708A41"/>
                </a:solidFill>
              </a:rPr>
              <a:t>Domain</a:t>
            </a:r>
            <a:endParaRPr lang="ko-KR" altLang="en-US" sz="1600" b="1">
              <a:solidFill>
                <a:srgbClr val="708A4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BA7D44-40A4-4FF1-076B-FAB817DBA8D6}"/>
              </a:ext>
            </a:extLst>
          </p:cNvPr>
          <p:cNvSpPr txBox="1"/>
          <p:nvPr/>
        </p:nvSpPr>
        <p:spPr>
          <a:xfrm>
            <a:off x="1941479" y="730414"/>
            <a:ext cx="1729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>
                <a:solidFill>
                  <a:srgbClr val="0070C0"/>
                </a:solidFill>
              </a:rPr>
              <a:t>Adapter </a:t>
            </a:r>
            <a:r>
              <a:rPr lang="en-GB" altLang="ko-KR" b="1">
                <a:solidFill>
                  <a:srgbClr val="0070C0"/>
                </a:solidFill>
              </a:rPr>
              <a:t>Layer</a:t>
            </a:r>
            <a:endParaRPr lang="ko-KR" altLang="en-US" b="1">
              <a:solidFill>
                <a:srgbClr val="0070C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0FF85F-1DCF-3092-3BEE-CCB69012E2A4}"/>
              </a:ext>
            </a:extLst>
          </p:cNvPr>
          <p:cNvSpPr txBox="1"/>
          <p:nvPr/>
        </p:nvSpPr>
        <p:spPr>
          <a:xfrm>
            <a:off x="8995179" y="730414"/>
            <a:ext cx="1729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>
                <a:solidFill>
                  <a:srgbClr val="0070C0"/>
                </a:solidFill>
              </a:rPr>
              <a:t>Adapter </a:t>
            </a:r>
            <a:r>
              <a:rPr lang="en-GB" altLang="ko-KR" b="1">
                <a:solidFill>
                  <a:srgbClr val="0070C0"/>
                </a:solidFill>
              </a:rPr>
              <a:t>Layer</a:t>
            </a:r>
            <a:endParaRPr lang="ko-KR" altLang="en-US" b="1">
              <a:solidFill>
                <a:srgbClr val="0070C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52731A-141A-9D37-6B5E-500A9C271733}"/>
              </a:ext>
            </a:extLst>
          </p:cNvPr>
          <p:cNvSpPr txBox="1"/>
          <p:nvPr/>
        </p:nvSpPr>
        <p:spPr>
          <a:xfrm>
            <a:off x="5232774" y="730414"/>
            <a:ext cx="2100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rgbClr val="0070C0"/>
                </a:solidFill>
              </a:rPr>
              <a:t>Application </a:t>
            </a:r>
            <a:r>
              <a:rPr lang="en-GB" altLang="ko-KR" b="1">
                <a:solidFill>
                  <a:srgbClr val="0070C0"/>
                </a:solidFill>
              </a:rPr>
              <a:t>Layer</a:t>
            </a:r>
            <a:endParaRPr lang="ko-KR" altLang="en-US" b="1">
              <a:solidFill>
                <a:srgbClr val="0070C0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39DF5E5-63D7-BCEB-0A06-9B2AED5A5CE3}"/>
              </a:ext>
            </a:extLst>
          </p:cNvPr>
          <p:cNvSpPr/>
          <p:nvPr/>
        </p:nvSpPr>
        <p:spPr>
          <a:xfrm>
            <a:off x="4839335" y="5837316"/>
            <a:ext cx="2900515" cy="8772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72F4548-4A68-0146-5537-F64E0CED593D}"/>
              </a:ext>
            </a:extLst>
          </p:cNvPr>
          <p:cNvSpPr txBox="1"/>
          <p:nvPr/>
        </p:nvSpPr>
        <p:spPr>
          <a:xfrm>
            <a:off x="5429941" y="5922584"/>
            <a:ext cx="1706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rgbClr val="0070C0"/>
                </a:solidFill>
              </a:rPr>
              <a:t>Domain </a:t>
            </a:r>
            <a:r>
              <a:rPr lang="en-GB" altLang="ko-KR" b="1">
                <a:solidFill>
                  <a:srgbClr val="0070C0"/>
                </a:solidFill>
              </a:rPr>
              <a:t>Layer</a:t>
            </a:r>
            <a:endParaRPr lang="ko-KR" altLang="en-US" b="1">
              <a:solidFill>
                <a:srgbClr val="0070C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AF5DAC-1D8A-8079-D419-A70FED8449DF}"/>
              </a:ext>
            </a:extLst>
          </p:cNvPr>
          <p:cNvSpPr txBox="1"/>
          <p:nvPr/>
        </p:nvSpPr>
        <p:spPr>
          <a:xfrm>
            <a:off x="4543201" y="4199006"/>
            <a:ext cx="1661993" cy="6106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1200" b="1">
                <a:solidFill>
                  <a:srgbClr val="C00000"/>
                </a:solidFill>
              </a:rPr>
              <a:t>Fin&lt;T&gt;</a:t>
            </a:r>
          </a:p>
          <a:p>
            <a:pPr algn="r">
              <a:lnSpc>
                <a:spcPct val="150000"/>
              </a:lnSpc>
            </a:pPr>
            <a:r>
              <a:rPr lang="en-US" altLang="ko-KR" sz="1200" b="1">
                <a:solidFill>
                  <a:srgbClr val="C00000"/>
                </a:solidFill>
              </a:rPr>
              <a:t>Validation&lt;Error,</a:t>
            </a:r>
            <a:r>
              <a:rPr lang="ko-KR" altLang="en-US" sz="1200" b="1">
                <a:solidFill>
                  <a:srgbClr val="C00000"/>
                </a:solidFill>
              </a:rPr>
              <a:t> </a:t>
            </a:r>
            <a:r>
              <a:rPr lang="en-US" altLang="ko-KR" sz="1200" b="1">
                <a:solidFill>
                  <a:srgbClr val="C00000"/>
                </a:solidFill>
              </a:rPr>
              <a:t>T&gt;</a:t>
            </a:r>
            <a:endParaRPr lang="ko-KR" altLang="en-US" sz="1200" b="1">
              <a:solidFill>
                <a:srgbClr val="C0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272F85-8FF6-7BD5-CA23-51888AB3F256}"/>
              </a:ext>
            </a:extLst>
          </p:cNvPr>
          <p:cNvSpPr txBox="1"/>
          <p:nvPr/>
        </p:nvSpPr>
        <p:spPr>
          <a:xfrm>
            <a:off x="8846654" y="1888030"/>
            <a:ext cx="2485937" cy="887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>
                <a:solidFill>
                  <a:srgbClr val="C00000"/>
                </a:solidFill>
              </a:rPr>
              <a:t>IAdatper</a:t>
            </a:r>
          </a:p>
          <a:p>
            <a:pPr>
              <a:lnSpc>
                <a:spcPct val="150000"/>
              </a:lnSpc>
            </a:pPr>
            <a:r>
              <a:rPr lang="en-US" altLang="ko-KR" sz="1200" b="1">
                <a:solidFill>
                  <a:srgbClr val="C00000"/>
                </a:solidFill>
              </a:rPr>
              <a:t>Observability Source Generator</a:t>
            </a:r>
          </a:p>
          <a:p>
            <a:pPr>
              <a:lnSpc>
                <a:spcPct val="150000"/>
              </a:lnSpc>
            </a:pPr>
            <a:r>
              <a:rPr lang="en-US" altLang="ko-KR" sz="1200" b="1">
                <a:solidFill>
                  <a:srgbClr val="C00000"/>
                </a:solidFill>
              </a:rPr>
              <a:t>FinT&lt;IO, T&gt;</a:t>
            </a:r>
            <a:endParaRPr lang="ko-KR" altLang="en-US" sz="1200" b="1">
              <a:solidFill>
                <a:srgbClr val="C0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79DD95D-4D18-DA4D-6926-65A9CEA63EE4}"/>
              </a:ext>
            </a:extLst>
          </p:cNvPr>
          <p:cNvSpPr txBox="1"/>
          <p:nvPr/>
        </p:nvSpPr>
        <p:spPr>
          <a:xfrm>
            <a:off x="4740409" y="1195532"/>
            <a:ext cx="4398961" cy="15801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>
                <a:solidFill>
                  <a:srgbClr val="C00000"/>
                </a:solidFill>
              </a:rPr>
              <a:t>CQRS</a:t>
            </a:r>
          </a:p>
          <a:p>
            <a:pPr marL="266700" lvl="1" indent="-179388">
              <a:lnSpc>
                <a:spcPct val="150000"/>
              </a:lnSpc>
              <a:buFontTx/>
              <a:buChar char="-"/>
            </a:pPr>
            <a:r>
              <a:rPr lang="en-US" altLang="ko-KR" sz="1000">
                <a:solidFill>
                  <a:srgbClr val="C00000"/>
                </a:solidFill>
              </a:rPr>
              <a:t>ICommandRequest&lt;TInput&gt;, ICommandUsecase&lt;TInput, TOutput&gt;</a:t>
            </a:r>
          </a:p>
          <a:p>
            <a:pPr marL="266700" lvl="1" indent="-179388">
              <a:lnSpc>
                <a:spcPct val="150000"/>
              </a:lnSpc>
              <a:buFontTx/>
              <a:buChar char="-"/>
            </a:pPr>
            <a:r>
              <a:rPr lang="en-US" altLang="ko-KR" sz="1000">
                <a:solidFill>
                  <a:srgbClr val="C00000"/>
                </a:solidFill>
              </a:rPr>
              <a:t>IQueryRequest&lt;TInput&gt;, IQueryUsecase&lt;TInput, TOutput&gt;</a:t>
            </a:r>
          </a:p>
          <a:p>
            <a:pPr marL="266700" lvl="1" indent="-179388">
              <a:lnSpc>
                <a:spcPct val="150000"/>
              </a:lnSpc>
              <a:buFontTx/>
              <a:buChar char="-"/>
            </a:pPr>
            <a:r>
              <a:rPr lang="en-US" altLang="ko-KR" sz="1000">
                <a:solidFill>
                  <a:srgbClr val="C00000"/>
                </a:solidFill>
              </a:rPr>
              <a:t>IFinResponse&lt;T&gt;</a:t>
            </a:r>
          </a:p>
          <a:p>
            <a:pPr>
              <a:lnSpc>
                <a:spcPct val="150000"/>
              </a:lnSpc>
            </a:pPr>
            <a:r>
              <a:rPr lang="en-US" altLang="ko-KR" sz="1200" b="1">
                <a:solidFill>
                  <a:srgbClr val="C00000"/>
                </a:solidFill>
              </a:rPr>
              <a:t>Observability CQRS Pipeline</a:t>
            </a:r>
          </a:p>
          <a:p>
            <a:pPr>
              <a:lnSpc>
                <a:spcPct val="150000"/>
              </a:lnSpc>
            </a:pPr>
            <a:r>
              <a:rPr lang="en-US" altLang="ko-KR" sz="1200" b="1">
                <a:solidFill>
                  <a:srgbClr val="C00000"/>
                </a:solidFill>
              </a:rPr>
              <a:t>FinT&lt;IO, T&gt; LINQ</a:t>
            </a:r>
            <a:endParaRPr lang="ko-KR" altLang="en-US" sz="1200" b="1">
              <a:solidFill>
                <a:srgbClr val="C00000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4328AF9-F9CF-A7A6-A685-6BAFD38CDE60}"/>
              </a:ext>
            </a:extLst>
          </p:cNvPr>
          <p:cNvSpPr/>
          <p:nvPr/>
        </p:nvSpPr>
        <p:spPr>
          <a:xfrm>
            <a:off x="955964" y="316923"/>
            <a:ext cx="10790959" cy="63228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FFC683-418C-82B0-C157-13538F74C076}"/>
              </a:ext>
            </a:extLst>
          </p:cNvPr>
          <p:cNvSpPr txBox="1"/>
          <p:nvPr/>
        </p:nvSpPr>
        <p:spPr>
          <a:xfrm>
            <a:off x="1794987" y="1195532"/>
            <a:ext cx="2027093" cy="15801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>
                <a:solidFill>
                  <a:srgbClr val="C00000"/>
                </a:solidFill>
              </a:rPr>
              <a:t>Structured Error</a:t>
            </a:r>
          </a:p>
          <a:p>
            <a:pPr marL="266700" lvl="1" indent="-179388">
              <a:lnSpc>
                <a:spcPct val="150000"/>
              </a:lnSpc>
              <a:buFontTx/>
              <a:buChar char="-"/>
            </a:pPr>
            <a:r>
              <a:rPr lang="en-US" altLang="ko-KR" sz="1000">
                <a:solidFill>
                  <a:srgbClr val="C00000"/>
                </a:solidFill>
              </a:rPr>
              <a:t>ErrorCodeExpected </a:t>
            </a:r>
          </a:p>
          <a:p>
            <a:pPr marL="266700" lvl="1" indent="-179388">
              <a:lnSpc>
                <a:spcPct val="150000"/>
              </a:lnSpc>
              <a:buFontTx/>
              <a:buChar char="-"/>
            </a:pPr>
            <a:r>
              <a:rPr lang="en-US" altLang="ko-KR" sz="1000">
                <a:solidFill>
                  <a:srgbClr val="C00000"/>
                </a:solidFill>
              </a:rPr>
              <a:t>ErrorCodeExceptional </a:t>
            </a:r>
          </a:p>
          <a:p>
            <a:pPr marL="266700" lvl="1" indent="-179388">
              <a:lnSpc>
                <a:spcPct val="150000"/>
              </a:lnSpc>
              <a:buFontTx/>
              <a:buChar char="-"/>
            </a:pPr>
            <a:r>
              <a:rPr lang="en-US" altLang="ko-KR" sz="1000">
                <a:solidFill>
                  <a:srgbClr val="C00000"/>
                </a:solidFill>
              </a:rPr>
              <a:t>ManyErrors</a:t>
            </a:r>
          </a:p>
          <a:p>
            <a:pPr>
              <a:lnSpc>
                <a:spcPct val="150000"/>
              </a:lnSpc>
            </a:pPr>
            <a:r>
              <a:rPr lang="en-US" altLang="ko-KR" sz="1200" b="1">
                <a:solidFill>
                  <a:srgbClr val="C00000"/>
                </a:solidFill>
              </a:rPr>
              <a:t>Observability Pipeline</a:t>
            </a:r>
          </a:p>
          <a:p>
            <a:pPr>
              <a:lnSpc>
                <a:spcPct val="150000"/>
              </a:lnSpc>
            </a:pPr>
            <a:r>
              <a:rPr lang="en-US" altLang="ko-KR" sz="1200" b="1">
                <a:solidFill>
                  <a:srgbClr val="C00000"/>
                </a:solidFill>
              </a:rPr>
              <a:t>Dependency Registration</a:t>
            </a:r>
          </a:p>
        </p:txBody>
      </p:sp>
    </p:spTree>
    <p:extLst>
      <p:ext uri="{BB962C8B-B14F-4D97-AF65-F5344CB8AC3E}">
        <p14:creationId xmlns:p14="http://schemas.microsoft.com/office/powerpoint/2010/main" val="2842927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2DBE9-0EA4-845F-9611-1113F104C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그림 28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D163CFB-EACC-C65D-230A-AAB6AE7E23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05" y="0"/>
            <a:ext cx="9362209" cy="404061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11" name="그림 10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DDB54AF-0452-D2F9-429C-9CDF20B1E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71" y="2389485"/>
            <a:ext cx="11470724" cy="446851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E9F915F4-1E4A-9EBC-2CCF-CCEB97A62E93}"/>
              </a:ext>
            </a:extLst>
          </p:cNvPr>
          <p:cNvSpPr/>
          <p:nvPr/>
        </p:nvSpPr>
        <p:spPr>
          <a:xfrm>
            <a:off x="4090988" y="1662113"/>
            <a:ext cx="1419225" cy="385758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9B5ED948-582C-C475-4019-5A40347EF64C}"/>
              </a:ext>
            </a:extLst>
          </p:cNvPr>
          <p:cNvSpPr/>
          <p:nvPr/>
        </p:nvSpPr>
        <p:spPr>
          <a:xfrm>
            <a:off x="928686" y="5122456"/>
            <a:ext cx="1495426" cy="344894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11CD7DB-69C2-BC7F-3752-29CA15518467}"/>
              </a:ext>
            </a:extLst>
          </p:cNvPr>
          <p:cNvSpPr txBox="1"/>
          <p:nvPr/>
        </p:nvSpPr>
        <p:spPr>
          <a:xfrm>
            <a:off x="3339834" y="3160186"/>
            <a:ext cx="3270516" cy="868146"/>
          </a:xfrm>
          <a:prstGeom prst="rect">
            <a:avLst/>
          </a:prstGeom>
          <a:solidFill>
            <a:schemeClr val="bg1"/>
          </a:solidFill>
        </p:spPr>
        <p:txBody>
          <a:bodyPr wrap="none" rtlCol="0" anchor="ctr" anchorCtr="0">
            <a:noAutofit/>
          </a:bodyPr>
          <a:lstStyle/>
          <a:p>
            <a:pPr algn="ctr"/>
            <a:r>
              <a:rPr lang="en-GB" b="1">
                <a:solidFill>
                  <a:srgbClr val="0070C0"/>
                </a:solidFill>
              </a:rPr>
              <a:t>application usecase.query</a:t>
            </a:r>
          </a:p>
          <a:p>
            <a:r>
              <a:rPr lang="en-GB" b="1">
                <a:solidFill>
                  <a:srgbClr val="0070C0"/>
                </a:solidFill>
              </a:rPr>
              <a:t>     {Layer}        {CQRS}</a:t>
            </a:r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A307D2D5-212A-057F-7D7C-927F6EDF1DAF}"/>
              </a:ext>
            </a:extLst>
          </p:cNvPr>
          <p:cNvCxnSpPr>
            <a:stCxn id="41" idx="2"/>
          </p:cNvCxnSpPr>
          <p:nvPr/>
        </p:nvCxnSpPr>
        <p:spPr>
          <a:xfrm flipH="1">
            <a:off x="1757363" y="2047871"/>
            <a:ext cx="3043238" cy="3024192"/>
          </a:xfrm>
          <a:prstGeom prst="straightConnector1">
            <a:avLst/>
          </a:prstGeom>
          <a:ln>
            <a:solidFill>
              <a:srgbClr val="0070C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6269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775</TotalTime>
  <Words>84</Words>
  <Application>Microsoft Office PowerPoint</Application>
  <PresentationFormat>와이드스크린</PresentationFormat>
  <Paragraphs>24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고형호</dc:creator>
  <cp:lastModifiedBy>고형호</cp:lastModifiedBy>
  <cp:revision>14</cp:revision>
  <dcterms:created xsi:type="dcterms:W3CDTF">2025-11-24T08:23:30Z</dcterms:created>
  <dcterms:modified xsi:type="dcterms:W3CDTF">2026-01-20T01:09:39Z</dcterms:modified>
</cp:coreProperties>
</file>